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69" r:id="rId4"/>
    <p:sldId id="270" r:id="rId5"/>
    <p:sldId id="271" r:id="rId6"/>
    <p:sldId id="272" r:id="rId7"/>
    <p:sldId id="273" r:id="rId8"/>
    <p:sldId id="262" r:id="rId9"/>
    <p:sldId id="260" r:id="rId10"/>
    <p:sldId id="261" r:id="rId11"/>
    <p:sldId id="259" r:id="rId12"/>
    <p:sldId id="263" r:id="rId13"/>
    <p:sldId id="264" r:id="rId14"/>
    <p:sldId id="265" r:id="rId15"/>
    <p:sldId id="266" r:id="rId16"/>
    <p:sldId id="267" r:id="rId17"/>
    <p:sldId id="274" r:id="rId18"/>
    <p:sldId id="276" r:id="rId19"/>
    <p:sldId id="277" r:id="rId20"/>
    <p:sldId id="278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72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009CE-6F49-4E63-A3AF-7F0A2E443887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EF75E-C125-471A-83DD-29804138D4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3570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009CE-6F49-4E63-A3AF-7F0A2E443887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EF75E-C125-471A-83DD-29804138D4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2696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009CE-6F49-4E63-A3AF-7F0A2E443887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EF75E-C125-471A-83DD-29804138D4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454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009CE-6F49-4E63-A3AF-7F0A2E443887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EF75E-C125-471A-83DD-29804138D4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571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009CE-6F49-4E63-A3AF-7F0A2E443887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EF75E-C125-471A-83DD-29804138D4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8913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009CE-6F49-4E63-A3AF-7F0A2E443887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EF75E-C125-471A-83DD-29804138D4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2373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009CE-6F49-4E63-A3AF-7F0A2E443887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EF75E-C125-471A-83DD-29804138D4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2934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009CE-6F49-4E63-A3AF-7F0A2E443887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EF75E-C125-471A-83DD-29804138D4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4276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009CE-6F49-4E63-A3AF-7F0A2E443887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EF75E-C125-471A-83DD-29804138D4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7614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009CE-6F49-4E63-A3AF-7F0A2E443887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EF75E-C125-471A-83DD-29804138D4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5822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009CE-6F49-4E63-A3AF-7F0A2E443887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EF75E-C125-471A-83DD-29804138D4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4887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009CE-6F49-4E63-A3AF-7F0A2E443887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EF75E-C125-471A-83DD-29804138D4E8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490539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009CE-6F49-4E63-A3AF-7F0A2E443887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EF75E-C125-471A-83DD-29804138D4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6761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009CE-6F49-4E63-A3AF-7F0A2E443887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EF75E-C125-471A-83DD-29804138D4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4773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009CE-6F49-4E63-A3AF-7F0A2E443887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EF75E-C125-471A-83DD-29804138D4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334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009CE-6F49-4E63-A3AF-7F0A2E443887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EF75E-C125-471A-83DD-29804138D4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51159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009CE-6F49-4E63-A3AF-7F0A2E443887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EF75E-C125-471A-83DD-29804138D4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8118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A30A0-2854-09E4-5C4F-DF456213B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DE6E5B-38CB-E600-FDD0-F01E3FD103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2775FD-BB4C-86CB-0AFA-F408C7B3C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009CE-6F49-4E63-A3AF-7F0A2E443887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80286A-7C6B-F053-9790-30E98010C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6AA527-B86A-4295-397A-A723F9356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EF75E-C125-471A-83DD-29804138D4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8034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E42009CE-6F49-4E63-A3AF-7F0A2E443887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99EEF75E-C125-471A-83DD-29804138D4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4948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10B2D5F-5DD4-148B-E31B-F59F5C7CDA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280" y="274046"/>
            <a:ext cx="11301439" cy="6309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29982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82C9D-5CD2-F7E8-C7BD-0CB27064288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5000" dirty="0"/>
              <a:t>Road Accident Analysis (2021–2022)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3B6658-BF13-0363-4C6D-F3DCF1C8985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Data-Driven Safety Insights | SQL, Power Bi</a:t>
            </a:r>
          </a:p>
        </p:txBody>
      </p:sp>
    </p:spTree>
    <p:extLst>
      <p:ext uri="{BB962C8B-B14F-4D97-AF65-F5344CB8AC3E}">
        <p14:creationId xmlns:p14="http://schemas.microsoft.com/office/powerpoint/2010/main" val="41027783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73B89-C8AF-8790-CFAC-009CCF87C0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1849" y="0"/>
            <a:ext cx="10364451" cy="1017037"/>
          </a:xfrm>
        </p:spPr>
        <p:txBody>
          <a:bodyPr/>
          <a:lstStyle/>
          <a:p>
            <a:r>
              <a:rPr lang="en-US" dirty="0"/>
              <a:t>Business Requirement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B2A5DF-0E66-D917-96C2-3E2893F53AD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20781" y="737119"/>
            <a:ext cx="10363826" cy="603690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300" dirty="0"/>
              <a:t>The client wants to develop a </a:t>
            </a:r>
            <a:r>
              <a:rPr lang="en-US" sz="1300" b="1" dirty="0"/>
              <a:t>Road Accident Dashboard</a:t>
            </a:r>
            <a:r>
              <a:rPr lang="en-US" sz="1300" dirty="0"/>
              <a:t> to analyze and monitor road safety performance for the years </a:t>
            </a:r>
            <a:r>
              <a:rPr lang="en-US" sz="1300" b="1" dirty="0"/>
              <a:t>2021 and 2022</a:t>
            </a:r>
            <a:r>
              <a:rPr lang="en-US" sz="1300" dirty="0"/>
              <a:t>, with insights on the following:</a:t>
            </a:r>
          </a:p>
          <a:p>
            <a:pPr marL="0" indent="0">
              <a:buNone/>
            </a:pPr>
            <a:r>
              <a:rPr lang="en-US" sz="1300" b="1" dirty="0"/>
              <a:t>🔹 Primary KPIs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300" dirty="0"/>
              <a:t>Total Casualties (Current Year) &amp; YoY Growth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300" dirty="0"/>
              <a:t>Total Accidents (Current Year) &amp; YoY Growth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300" dirty="0"/>
              <a:t>Total Casualties by Accident Severity (Fatal, Serious, Slight) with YoY comparison</a:t>
            </a:r>
          </a:p>
          <a:p>
            <a:pPr marL="0" indent="0">
              <a:buNone/>
            </a:pPr>
            <a:r>
              <a:rPr lang="en-US" sz="1300" b="1" dirty="0"/>
              <a:t>🔹 Secondary KPIs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300" dirty="0"/>
              <a:t>Total Casualties by Vehicle Type (Current Year)</a:t>
            </a:r>
          </a:p>
          <a:p>
            <a:pPr marL="0" indent="0">
              <a:buNone/>
            </a:pPr>
            <a:r>
              <a:rPr lang="en-US" sz="1300" b="1" dirty="0"/>
              <a:t>🔹 Trend Analysis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300" dirty="0"/>
              <a:t>Monthly comparison of Casualties (Current Year vs Previous Year)</a:t>
            </a:r>
          </a:p>
          <a:p>
            <a:pPr marL="0" indent="0">
              <a:buNone/>
            </a:pPr>
            <a:r>
              <a:rPr lang="en-US" sz="1300" b="1" dirty="0"/>
              <a:t>🔹 Risk Analysis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300" dirty="0"/>
              <a:t>Casualties by Road Type (Current Year)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300" dirty="0"/>
              <a:t>Casualties by Area/Location (Urban vs Rural)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300" dirty="0"/>
              <a:t>Casualties by Day/Night</a:t>
            </a:r>
          </a:p>
          <a:p>
            <a:pPr marL="0" indent="0">
              <a:buNone/>
            </a:pPr>
            <a:r>
              <a:rPr lang="en-US" sz="1300" b="1" dirty="0"/>
              <a:t>🔹 Location-Based Insights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300" dirty="0"/>
              <a:t>Total Casualties by Location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300" dirty="0"/>
              <a:t>Total Accidents by Location</a:t>
            </a:r>
          </a:p>
          <a:p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6298007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9E7B0-8793-EEE2-7322-D2C565EA6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Model Relationships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479214-F932-6ADC-EEF3-5FEDC0321DD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b="1" dirty="0"/>
              <a:t>Model View Relationships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Created </a:t>
            </a:r>
            <a:r>
              <a:rPr lang="en-US" b="1" dirty="0"/>
              <a:t>One-to-Many relationship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Calendar Table (One Side)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Road Accident Table (Many Side)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Connected using Date field</a:t>
            </a:r>
          </a:p>
          <a:p>
            <a:pPr marL="0" indent="0">
              <a:buNone/>
            </a:pPr>
            <a:r>
              <a:rPr lang="en-US" b="1" dirty="0"/>
              <a:t>Benefit: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Proper filtering across visuals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Accurate time-based calculations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Improved report performance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54204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41AB6-9315-8640-A9E0-C59B4B101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5824" y="77341"/>
            <a:ext cx="10364451" cy="1596177"/>
          </a:xfrm>
        </p:spPr>
        <p:txBody>
          <a:bodyPr/>
          <a:lstStyle/>
          <a:p>
            <a:r>
              <a:rPr lang="en-US" dirty="0"/>
              <a:t>Data Transformation in Power Bi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EBE55A-90DA-89DE-31B1-F622E473315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45824" y="1415369"/>
            <a:ext cx="10363826" cy="4994762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/>
              <a:t>Grouping &amp; Categorization</a:t>
            </a:r>
          </a:p>
          <a:p>
            <a:pPr marL="0" indent="0">
              <a:buNone/>
            </a:pPr>
            <a:r>
              <a:rPr lang="en-US" dirty="0"/>
              <a:t>In Power BI: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Grouped Vehicle Types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Grouped Weather Conditions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Grouped Light Conditions</a:t>
            </a:r>
          </a:p>
          <a:p>
            <a:pPr marL="0" indent="0">
              <a:buNone/>
            </a:pPr>
            <a:r>
              <a:rPr lang="en-US" dirty="0"/>
              <a:t>Created calculated measures for: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Total Casualties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Total Accidents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YoY Growth %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Severity-based KPIs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Percentage Distribution</a:t>
            </a:r>
          </a:p>
          <a:p>
            <a:r>
              <a:rPr lang="en-US" b="1" dirty="0"/>
              <a:t> Benefit: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Dynamic filtering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Clean dashboard visuals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Better business storytelling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5534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F65832-104C-4C27-F291-77866F606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DAX Measures Created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58547C6-0432-7729-9205-9B6AF12C205B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913774" y="2232489"/>
            <a:ext cx="5548698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Casualties by filtering the year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Accidents by filtering the year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Previous Year Casualties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YoY Growth % for Casualties and Accidents by year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Casualties by Severity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800" cap="none" dirty="0">
                <a:latin typeface="Arial" panose="020B0604020202020204" pitchFamily="34" charset="0"/>
              </a:rPr>
              <a:t>YoY Growth % for Casualties by </a:t>
            </a:r>
            <a:r>
              <a:rPr lang="en-US" altLang="en-US" sz="1800" cap="none" dirty="0" err="1">
                <a:latin typeface="Arial" panose="020B0604020202020204" pitchFamily="34" charset="0"/>
              </a:rPr>
              <a:t>Serverity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Area % Contribution</a:t>
            </a:r>
          </a:p>
        </p:txBody>
      </p:sp>
    </p:spTree>
    <p:extLst>
      <p:ext uri="{BB962C8B-B14F-4D97-AF65-F5344CB8AC3E}">
        <p14:creationId xmlns:p14="http://schemas.microsoft.com/office/powerpoint/2010/main" val="14355691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44099-66B7-4909-0B33-B8C19779E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Preparation (MySQL)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91C3A1-596E-167F-B11A-06A5254203C8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dirty="0"/>
              <a:t>Data Cleaning &amp; Transformation in MySQL</a:t>
            </a:r>
          </a:p>
          <a:p>
            <a:pPr marL="0" indent="0">
              <a:buNone/>
            </a:pPr>
            <a:r>
              <a:rPr lang="en-US" sz="1400" dirty="0"/>
              <a:t>Created new grouping columns:</a:t>
            </a:r>
          </a:p>
          <a:p>
            <a:r>
              <a:rPr lang="en-US" sz="1400" dirty="0" err="1"/>
              <a:t>vehicle_group</a:t>
            </a:r>
            <a:endParaRPr lang="en-US" sz="1400" dirty="0"/>
          </a:p>
          <a:p>
            <a:r>
              <a:rPr lang="en-US" sz="1400" dirty="0" err="1"/>
              <a:t>weather_group</a:t>
            </a:r>
            <a:endParaRPr lang="en-US" sz="1400" dirty="0"/>
          </a:p>
          <a:p>
            <a:r>
              <a:rPr lang="en-US" sz="1400" dirty="0" err="1"/>
              <a:t>light_group</a:t>
            </a:r>
            <a:endParaRPr lang="en-US" sz="1400" dirty="0"/>
          </a:p>
          <a:p>
            <a:pPr marL="0" indent="0">
              <a:buNone/>
            </a:pPr>
            <a:r>
              <a:rPr lang="en-US" sz="1400" dirty="0"/>
              <a:t>Used CASE statements to categorize:</a:t>
            </a:r>
          </a:p>
          <a:p>
            <a:r>
              <a:rPr lang="en-US" sz="1400" dirty="0"/>
              <a:t>Multiple vehicle types → Car, Bike, Bus, Van, Agriculture, Others</a:t>
            </a:r>
          </a:p>
          <a:p>
            <a:r>
              <a:rPr lang="en-US" sz="1400" dirty="0"/>
              <a:t>Weather conditions → Fine, Rain, Snow, Others</a:t>
            </a:r>
          </a:p>
          <a:p>
            <a:r>
              <a:rPr lang="en-US" sz="1400" dirty="0"/>
              <a:t>Light conditions → Day, Night</a:t>
            </a:r>
          </a:p>
        </p:txBody>
      </p:sp>
    </p:spTree>
    <p:extLst>
      <p:ext uri="{BB962C8B-B14F-4D97-AF65-F5344CB8AC3E}">
        <p14:creationId xmlns:p14="http://schemas.microsoft.com/office/powerpoint/2010/main" val="11717655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6D448-3DD3-C67F-3245-57A91D2CA4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Monthly Trend Comparison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32B44A-9196-D366-2088-4E2D4ADBBE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Monthly Casualties (Peak Month)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2022 Highest Casualties:</a:t>
            </a:r>
            <a:r>
              <a:rPr lang="en-US" dirty="0"/>
              <a:t> November – 18,439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2021 Highest Casualties:</a:t>
            </a:r>
            <a:r>
              <a:rPr lang="en-US" dirty="0"/>
              <a:t> November – 20,975</a:t>
            </a:r>
          </a:p>
          <a:p>
            <a:pPr marL="0" indent="0">
              <a:buNone/>
            </a:pPr>
            <a:r>
              <a:rPr lang="en-US" b="1" dirty="0"/>
              <a:t> Insight: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November is consistently the most accident-prone month.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However, 2022 shows improvement compared to 2021.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43399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D2A92-8A28-A845-DA88-2C66C5622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Casualties by Accident Severity (2022)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B43487-34F8-3972-A616-E90556DD50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Fatal Casualties:</a:t>
            </a:r>
            <a:r>
              <a:rPr lang="en-US" dirty="0"/>
              <a:t> 2,855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Serious Casualties:</a:t>
            </a:r>
            <a:r>
              <a:rPr lang="en-US" dirty="0"/>
              <a:t> 27,045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Slight Casualties:</a:t>
            </a:r>
            <a:r>
              <a:rPr lang="en-US" dirty="0"/>
              <a:t> 165,837</a:t>
            </a:r>
          </a:p>
          <a:p>
            <a:pPr marL="0" indent="0">
              <a:buNone/>
            </a:pPr>
            <a:r>
              <a:rPr lang="en-US" b="1" dirty="0"/>
              <a:t> Insight: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Majority of casualties are </a:t>
            </a:r>
            <a:r>
              <a:rPr lang="en-US" b="1" dirty="0"/>
              <a:t>Slight (≈ 85%)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Fatal cases are comparatively lower but still critical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Focus needed on reducing serious injuries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57190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8AAF6-9A67-219F-C9C1-98B83B979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Casualties by Vehicle Type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76D37E-C445-4B00-3068-6A2304C916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Highest casualties caused by: </a:t>
            </a:r>
            <a:r>
              <a:rPr lang="en-US" b="1" dirty="0"/>
              <a:t>Car (333485)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Lowest casualties caused by : agriculture (1032)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 Insight:</a:t>
            </a:r>
          </a:p>
          <a:p>
            <a:r>
              <a:rPr lang="en-US" dirty="0"/>
              <a:t>Passenger vehicles (cars) contribute the highest number of casualties, indicating need for stricter traffic monitoring and awareness programs.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42889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4D99E-1886-ADE9-E3C6-73488169E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Total Casualties &amp; Total Accidents (2022)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DC6168-1BAF-5622-69DB-15120F27C5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Total Casualties (2022):</a:t>
            </a:r>
            <a:r>
              <a:rPr lang="en-US" dirty="0"/>
              <a:t> 195,737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Total Casualties (2021):</a:t>
            </a:r>
            <a:r>
              <a:rPr lang="en-US" dirty="0"/>
              <a:t> 222,146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YoY Growth:</a:t>
            </a:r>
            <a:r>
              <a:rPr lang="en-US" dirty="0"/>
              <a:t> </a:t>
            </a:r>
            <a:r>
              <a:rPr lang="en-US" b="1" dirty="0"/>
              <a:t>-11.9%</a:t>
            </a:r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Total Accidents (2022):</a:t>
            </a:r>
            <a:r>
              <a:rPr lang="en-US" dirty="0"/>
              <a:t> 144,419</a:t>
            </a:r>
          </a:p>
          <a:p>
            <a:pPr marL="0" indent="0">
              <a:buNone/>
            </a:pPr>
            <a:r>
              <a:rPr lang="en-US" b="1" dirty="0"/>
              <a:t> Insight:</a:t>
            </a:r>
          </a:p>
          <a:p>
            <a:r>
              <a:rPr lang="en-US" dirty="0"/>
              <a:t>There is an </a:t>
            </a:r>
            <a:r>
              <a:rPr lang="en-US" b="1" dirty="0"/>
              <a:t>11.9% decrease in casualties in 2022 compared to 2021</a:t>
            </a:r>
            <a:r>
              <a:rPr lang="en-US" dirty="0"/>
              <a:t>, indicating improvement in road safety measures.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26620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2F0F1-E985-F27E-BBC2-0DEF3AC58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Casualties by Road Type (2022)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A77511-5D5D-FD58-EA80-457488E646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Highest casualties by road type: Single Carriageway(</a:t>
            </a:r>
            <a:r>
              <a:rPr lang="en-US" dirty="0"/>
              <a:t> 309,698)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Lowest casualties by road type: Slip road (6600)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 Insight:</a:t>
            </a:r>
          </a:p>
          <a:p>
            <a:r>
              <a:rPr lang="en-US" dirty="0"/>
              <a:t>Single carriageways account for the highest number of casualties, highlighting infrastructure risk in such road types.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5185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08249-6594-E99D-1F0A-D3C881D0A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Casualties by Weather Condition (2022)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34D761-BBBE-00B1-F114-C37AC1DD78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Fine Weather:</a:t>
            </a:r>
            <a:r>
              <a:rPr lang="en-US" dirty="0"/>
              <a:t> 156,522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Rain : 26314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Snow :5628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Others: 7273</a:t>
            </a:r>
          </a:p>
          <a:p>
            <a:pPr marL="0" indent="0">
              <a:buNone/>
            </a:pPr>
            <a:r>
              <a:rPr lang="en-US" b="1" dirty="0"/>
              <a:t> Insight:</a:t>
            </a:r>
          </a:p>
          <a:p>
            <a:r>
              <a:rPr lang="en-US" dirty="0"/>
              <a:t>Most accidents occur during </a:t>
            </a:r>
            <a:r>
              <a:rPr lang="en-US" b="1" dirty="0"/>
              <a:t>fine weather</a:t>
            </a:r>
            <a:r>
              <a:rPr lang="en-US" dirty="0"/>
              <a:t>, suggesting that driver negligence may play a bigger role than weather conditions.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65039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404B5-CACA-0E9D-86A2-74706AD49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Area Distribution (2022)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586E7E-6708-3B5D-122E-5BC77B9018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Urban vs Rural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Urban:</a:t>
            </a:r>
            <a:r>
              <a:rPr lang="en-US" dirty="0"/>
              <a:t> 61.94%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Rural:</a:t>
            </a:r>
            <a:r>
              <a:rPr lang="en-US" dirty="0"/>
              <a:t> 38.05%</a:t>
            </a:r>
          </a:p>
          <a:p>
            <a:pPr marL="0" indent="0">
              <a:buNone/>
            </a:pPr>
            <a:r>
              <a:rPr lang="en-US" b="1" dirty="0"/>
              <a:t>Insight:</a:t>
            </a:r>
          </a:p>
          <a:p>
            <a:r>
              <a:rPr lang="en-US" dirty="0"/>
              <a:t>Urban areas contribute nearly </a:t>
            </a:r>
            <a:r>
              <a:rPr lang="en-US" b="1" dirty="0"/>
              <a:t>62% of total casualties</a:t>
            </a:r>
            <a:r>
              <a:rPr lang="en-US" dirty="0"/>
              <a:t>, possibly due to higher traffic density.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77539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862B9-C165-BE1E-BA3E-6886307FC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Day vs Night Analysis (2022)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A00F73-4DC6-669D-488F-65131D07BA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Day:</a:t>
            </a:r>
            <a:r>
              <a:rPr lang="en-US" dirty="0"/>
              <a:t> 73.8%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Night:</a:t>
            </a:r>
            <a:r>
              <a:rPr lang="en-US" dirty="0"/>
              <a:t> 26.15%</a:t>
            </a:r>
          </a:p>
          <a:p>
            <a:pPr marL="0" indent="0">
              <a:buNone/>
            </a:pPr>
            <a:r>
              <a:rPr lang="en-US" b="1" dirty="0"/>
              <a:t> Insight:</a:t>
            </a:r>
          </a:p>
          <a:p>
            <a:r>
              <a:rPr lang="en-US" dirty="0"/>
              <a:t>Most accidents occur during daytime, likely due to increased traffic volume.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92064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618CA-5B3A-FEB5-BB79-621D2E21B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Location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14E679-7FA6-FE3A-8249-FDDC9138D3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Highest Casualties by Location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Top Location:</a:t>
            </a:r>
            <a:r>
              <a:rPr lang="en-US" dirty="0"/>
              <a:t> Birmingham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Lowest location: Orkney islands</a:t>
            </a:r>
          </a:p>
          <a:p>
            <a:pPr marL="0" indent="0">
              <a:buNone/>
            </a:pPr>
            <a:r>
              <a:rPr lang="en-US" b="1" dirty="0"/>
              <a:t>Insight:</a:t>
            </a:r>
          </a:p>
          <a:p>
            <a:r>
              <a:rPr lang="en-US" dirty="0"/>
              <a:t>Birmingham recorded the highest casualties, requiring focused road safety policies and enforcement.</a:t>
            </a:r>
          </a:p>
          <a:p>
            <a:r>
              <a:rPr lang="en-US" dirty="0"/>
              <a:t>Orkney islands recorded the least casualties</a:t>
            </a:r>
          </a:p>
        </p:txBody>
      </p:sp>
    </p:spTree>
    <p:extLst>
      <p:ext uri="{BB962C8B-B14F-4D97-AF65-F5344CB8AC3E}">
        <p14:creationId xmlns:p14="http://schemas.microsoft.com/office/powerpoint/2010/main" val="4462804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61E5C-80EA-CFC8-651F-C17A1FB12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149" y="0"/>
            <a:ext cx="10364451" cy="594463"/>
          </a:xfrm>
        </p:spPr>
        <p:txBody>
          <a:bodyPr>
            <a:normAutofit/>
          </a:bodyPr>
          <a:lstStyle/>
          <a:p>
            <a:r>
              <a:rPr lang="en-US" sz="3000" dirty="0"/>
              <a:t>Conclusion &amp; Key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0B8979-2DC5-3947-E84D-5DDDE245109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522514"/>
            <a:ext cx="10363826" cy="5268685"/>
          </a:xfrm>
        </p:spPr>
        <p:txBody>
          <a:bodyPr>
            <a:normAutofit/>
          </a:bodyPr>
          <a:lstStyle/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Performance (2022 vs 2021)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casualties decreased by 11.9% in 2022 compared to 2021, indicating a positive improvement in road safety.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casualties reduced from 222,146 (2021) to 195,737 (2022).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Indicates measurable improvement in road safety performance</a:t>
            </a:r>
          </a:p>
          <a:p>
            <a:r>
              <a:rPr lang="en-US" sz="1400" dirty="0"/>
              <a:t>Suggests effectiveness of traffic policies and awareness programs</a:t>
            </a:r>
          </a:p>
          <a:p>
            <a:pPr marL="0" indent="0">
              <a:buNone/>
            </a:pPr>
            <a:r>
              <a:rPr lang="en-US" sz="1200" b="1" dirty="0"/>
              <a:t>Severity Pattern Analysis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Slight injuries dominate</a:t>
            </a:r>
            <a:r>
              <a:rPr lang="en-US" sz="1200" dirty="0"/>
              <a:t> the total casualties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Fatal cases are relatively lower (2,855), but high-impact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Serious injuries (27,045) still represent significant healthcare burden</a:t>
            </a:r>
          </a:p>
          <a:p>
            <a:pPr marL="0" indent="0">
              <a:buNone/>
            </a:pPr>
            <a:r>
              <a:rPr lang="en-US" sz="1200" b="1" dirty="0"/>
              <a:t>Vehicle Risk Concentration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Cars contribute the highest number of casualties</a:t>
            </a:r>
            <a:endParaRPr lang="en-US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Passenger vehicle density in urban regions is a major risk driver</a:t>
            </a:r>
          </a:p>
          <a:p>
            <a:endParaRPr lang="en-US" sz="1400" dirty="0"/>
          </a:p>
          <a:p>
            <a:pPr marL="0" indent="0"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70040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F9526-4BF0-E6C1-D052-44697EFCB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V="1">
            <a:off x="913775" y="0"/>
            <a:ext cx="10364451" cy="618517"/>
          </a:xfrm>
        </p:spPr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7B41B4-8B67-22AB-DD73-689F366F07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618518"/>
            <a:ext cx="10363826" cy="5172682"/>
          </a:xfrm>
        </p:spPr>
        <p:txBody>
          <a:bodyPr>
            <a:normAutofit/>
          </a:bodyPr>
          <a:lstStyle/>
          <a:p>
            <a:r>
              <a:rPr lang="en-US" sz="1400" b="1" dirty="0"/>
              <a:t>. Seasonal &amp; Monthly Risk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November is the peak accident month in both years: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2021: 20,975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2022: 18,439</a:t>
            </a:r>
          </a:p>
          <a:p>
            <a:r>
              <a:rPr lang="en-US" sz="1400" b="1" dirty="0"/>
              <a:t>Geographic Risk Distribution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Urban areas account for </a:t>
            </a:r>
            <a:r>
              <a:rPr lang="en-US" sz="1400" b="1" dirty="0"/>
              <a:t>61.94%</a:t>
            </a:r>
            <a:r>
              <a:rPr lang="en-US" sz="1400" dirty="0"/>
              <a:t> of total casualties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Daytime accidents account for </a:t>
            </a:r>
            <a:r>
              <a:rPr lang="en-US" sz="1400" b="1" dirty="0"/>
              <a:t>73.8%</a:t>
            </a: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Birmingham</a:t>
            </a:r>
            <a:r>
              <a:rPr lang="en-US" sz="1400" dirty="0"/>
              <a:t> is the highest casualty location</a:t>
            </a:r>
          </a:p>
          <a:p>
            <a:r>
              <a:rPr lang="en-US" sz="1400" dirty="0"/>
              <a:t>🔎 Insight:</a:t>
            </a:r>
            <a:br>
              <a:rPr lang="en-US" sz="1400" dirty="0"/>
            </a:br>
            <a:r>
              <a:rPr lang="en-US" sz="1400" dirty="0"/>
              <a:t>High traffic density and congestion are primary contributing factors.</a:t>
            </a:r>
          </a:p>
          <a:p>
            <a:r>
              <a:rPr lang="en-US" sz="1400" b="1" dirty="0"/>
              <a:t>Infrastructure Risk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Single carriageway roads</a:t>
            </a:r>
            <a:r>
              <a:rPr lang="en-US" sz="1400" dirty="0"/>
              <a:t> show the highest casualty count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0939047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F3BA0-A731-A81F-B3CC-0027A4CF9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V="1">
            <a:off x="913775" y="0"/>
            <a:ext cx="10364451" cy="618517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3E6617-12CA-E1D5-A94C-13A1AF603E4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765110"/>
            <a:ext cx="10363826" cy="502608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1300" b="1" dirty="0"/>
              <a:t>Casualties by Light Condition (2022)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300" b="1" dirty="0"/>
              <a:t>Daytime Accidents:</a:t>
            </a:r>
            <a:r>
              <a:rPr lang="en-US" sz="1300" dirty="0"/>
              <a:t> 73.8%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300" b="1" dirty="0"/>
              <a:t>Nighttime Accidents:</a:t>
            </a:r>
            <a:r>
              <a:rPr lang="en-US" sz="1300" dirty="0"/>
              <a:t> 26.15%</a:t>
            </a:r>
          </a:p>
          <a:p>
            <a:r>
              <a:rPr lang="en-US" sz="1300" b="1" dirty="0"/>
              <a:t>Weather Condition Analysis</a:t>
            </a:r>
          </a:p>
          <a:p>
            <a:pPr marL="0" indent="0">
              <a:buNone/>
            </a:pPr>
            <a:r>
              <a:rPr lang="en-US" sz="1300" b="1" dirty="0"/>
              <a:t>Casualties by Weather Condition (2022)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300" b="1" dirty="0"/>
              <a:t>Fine Weather:</a:t>
            </a:r>
            <a:r>
              <a:rPr lang="en-US" sz="1300" dirty="0"/>
              <a:t> 156,522 casualties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300" dirty="0"/>
              <a:t>(Highest among all weather conditions</a:t>
            </a:r>
          </a:p>
          <a:p>
            <a:pPr marL="0" indent="0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Findings: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Slight injuries dominate overall casualty numbers, accounting for the majority of incidents.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Cars are the major contributing vehicle type, indicating higher risk in passenger vehicle traffic.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November is the most accident-prone month in both 2021 and 2022.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Urban areas (61.94%) record significantly more accidents than rural areas.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Daytime accidents (73.8%) are considerably higher than nighttime accidents.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Birmingham is identified as the highest-risk location.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carriageway roads show the highest casualty concentration and require infrastructure improvement</a:t>
            </a: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endParaRPr lang="en-US" sz="13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22105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F12DD-90B9-7913-0463-376FFFC7A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149" y="-587828"/>
            <a:ext cx="10364451" cy="1754155"/>
          </a:xfrm>
        </p:spPr>
        <p:txBody>
          <a:bodyPr/>
          <a:lstStyle/>
          <a:p>
            <a:r>
              <a:rPr lang="en-US" dirty="0"/>
              <a:t>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D08C03-7056-CCE2-1CA5-5C33D401C4F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942392"/>
            <a:ext cx="10363826" cy="4848807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1. Strengthen Urban Traffic Control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Improve congestion management in urban areas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Increase monitoring during peak daytime hours</a:t>
            </a:r>
          </a:p>
          <a:p>
            <a:pPr marL="0" indent="0">
              <a:buNone/>
            </a:pPr>
            <a:r>
              <a:rPr lang="en-US" b="1" dirty="0"/>
              <a:t> 2. Upgrade High-Risk Infrastructure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Improve safety on single carriageway roads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Install better signage and speed enforcement systems</a:t>
            </a:r>
          </a:p>
          <a:p>
            <a:pPr marL="0" indent="0">
              <a:buNone/>
            </a:pPr>
            <a:r>
              <a:rPr lang="en-US" b="1" dirty="0"/>
              <a:t>3. Target High-Risk Periods &amp; Locations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Special monitoring during November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Focused intervention in Birmingham</a:t>
            </a:r>
          </a:p>
          <a:p>
            <a:pPr marL="0" indent="0">
              <a:buNone/>
            </a:pPr>
            <a:r>
              <a:rPr lang="en-US" b="1" dirty="0"/>
              <a:t> 4. Promote Safer Driving </a:t>
            </a:r>
            <a:r>
              <a:rPr lang="en-US" b="1" dirty="0" err="1"/>
              <a:t>Behaviour</a:t>
            </a: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Awareness programs for car drivers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Strict enforcement of speed and safety regulations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2956319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</TotalTime>
  <Words>1098</Words>
  <Application>Microsoft Office PowerPoint</Application>
  <PresentationFormat>Widescreen</PresentationFormat>
  <Paragraphs>182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Times New Roman</vt:lpstr>
      <vt:lpstr>Tw Cen MT</vt:lpstr>
      <vt:lpstr>Droplet</vt:lpstr>
      <vt:lpstr>PowerPoint Presentation</vt:lpstr>
      <vt:lpstr>Road Accident Analysis (2021–2022)</vt:lpstr>
      <vt:lpstr>Business Requirement</vt:lpstr>
      <vt:lpstr>Data Model Relationships</vt:lpstr>
      <vt:lpstr>Data Transformation in Power Bi</vt:lpstr>
      <vt:lpstr>DAX Measures Created</vt:lpstr>
      <vt:lpstr>Data Preparation (MySQL)</vt:lpstr>
      <vt:lpstr>Monthly Trend Comparison</vt:lpstr>
      <vt:lpstr>Casualties by Accident Severity (2022)</vt:lpstr>
      <vt:lpstr>Casualties by Vehicle Type</vt:lpstr>
      <vt:lpstr>Total Casualties &amp; Total Accidents (2022)</vt:lpstr>
      <vt:lpstr>Casualties by Road Type (2022)</vt:lpstr>
      <vt:lpstr>Casualties by Weather Condition (2022)</vt:lpstr>
      <vt:lpstr>Area Distribution (2022)</vt:lpstr>
      <vt:lpstr>Day vs Night Analysis (2022)</vt:lpstr>
      <vt:lpstr>Location Analysis</vt:lpstr>
      <vt:lpstr>Conclusion &amp; Key Insights</vt:lpstr>
      <vt:lpstr> </vt:lpstr>
      <vt:lpstr>PowerPoint Presentation</vt:lpstr>
      <vt:lpstr>Recommendations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Kovidh Javaji</dc:creator>
  <cp:lastModifiedBy>Kovidh Javaji</cp:lastModifiedBy>
  <cp:revision>5</cp:revision>
  <dcterms:created xsi:type="dcterms:W3CDTF">2026-02-16T09:31:45Z</dcterms:created>
  <dcterms:modified xsi:type="dcterms:W3CDTF">2026-02-16T10:34:22Z</dcterms:modified>
</cp:coreProperties>
</file>